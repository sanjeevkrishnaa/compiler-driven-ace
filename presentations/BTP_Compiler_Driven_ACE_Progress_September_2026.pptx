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Static 3+1</c:v>
                </c:pt>
              </c:strCache>
            </c:strRef>
          </c:tx>
          <c:spPr>
            <a:solidFill>
              <a:srgbClr val="247BA0"/>
            </a:solidFill>
            <a:ln w="25400" cap="flat">
              <a:solidFill>
                <a:srgbClr val="247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47BA0"/>
              </a:solidFill>
              <a:ln w="9525" cap="flat">
                <a:solidFill>
                  <a:srgbClr val="247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0.553104</c:v>
                </c:pt>
                <c:pt idx="1">
                  <c:v>0.633231</c:v>
                </c:pt>
                <c:pt idx="2">
                  <c:v>0.697352</c:v>
                </c:pt>
                <c:pt idx="3">
                  <c:v>0.732664</c:v>
                </c:pt>
                <c:pt idx="4">
                  <c:v>0.772076</c:v>
                </c:pt>
                <c:pt idx="5">
                  <c:v>0.807971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Static 2+2</c:v>
                </c:pt>
              </c:strCache>
            </c:strRef>
          </c:tx>
          <c:spPr>
            <a:solidFill>
              <a:srgbClr val="FF9F1C"/>
            </a:solidFill>
            <a:ln w="25400" cap="flat">
              <a:solidFill>
                <a:srgbClr val="FF9F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F1C"/>
              </a:solidFill>
              <a:ln w="9525" cap="flat">
                <a:solidFill>
                  <a:srgbClr val="FF9F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0.720845</c:v>
                </c:pt>
                <c:pt idx="1">
                  <c:v>0.805677</c:v>
                </c:pt>
                <c:pt idx="2">
                  <c:v>0.846865</c:v>
                </c:pt>
                <c:pt idx="3">
                  <c:v>0.865266</c:v>
                </c:pt>
                <c:pt idx="4">
                  <c:v>0.890028</c:v>
                </c:pt>
                <c:pt idx="5">
                  <c:v>0.919232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Static 1+1</c:v>
                </c:pt>
              </c:strCache>
            </c:strRef>
          </c:tx>
          <c:spPr>
            <a:solidFill>
              <a:srgbClr val="7B61A8"/>
            </a:solidFill>
            <a:ln w="25400" cap="flat">
              <a:solidFill>
                <a:srgbClr val="7B61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B61A8"/>
              </a:solidFill>
              <a:ln w="9525" cap="flat">
                <a:solidFill>
                  <a:srgbClr val="7B61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0.910873</c:v>
                </c:pt>
                <c:pt idx="1">
                  <c:v>0.908687</c:v>
                </c:pt>
                <c:pt idx="2">
                  <c:v>0.943862</c:v>
                </c:pt>
                <c:pt idx="3">
                  <c:v>0.959724</c:v>
                </c:pt>
                <c:pt idx="4">
                  <c:v>0.97947</c:v>
                </c:pt>
                <c:pt idx="5">
                  <c:v>0.994275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Shared pool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0.598283</c:v>
                </c:pt>
                <c:pt idx="1">
                  <c:v>0.635186</c:v>
                </c:pt>
                <c:pt idx="2">
                  <c:v>0.726038</c:v>
                </c:pt>
                <c:pt idx="3">
                  <c:v>0.746164</c:v>
                </c:pt>
                <c:pt idx="4">
                  <c:v>0.784498</c:v>
                </c:pt>
                <c:pt idx="5">
                  <c:v>0.818597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4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Pre-ready</c:v>
                </c:pt>
              </c:strCache>
            </c:strRef>
          </c:tx>
          <c:spPr>
            <a:solidFill>
              <a:srgbClr val="247BA0"/>
            </a:solidFill>
            <a:ln w="25400" cap="flat">
              <a:solidFill>
                <a:srgbClr val="247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47BA0"/>
              </a:solidFill>
              <a:ln w="9525" cap="flat">
                <a:solidFill>
                  <a:srgbClr val="247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59.17</c:v>
                </c:pt>
                <c:pt idx="1">
                  <c:v>54.72</c:v>
                </c:pt>
                <c:pt idx="2">
                  <c:v>44.15</c:v>
                </c:pt>
                <c:pt idx="3">
                  <c:v>41.91</c:v>
                </c:pt>
                <c:pt idx="4">
                  <c:v>37.25</c:v>
                </c:pt>
                <c:pt idx="5">
                  <c:v>33.56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Fallback</c:v>
                </c:pt>
              </c:strCache>
            </c:strRef>
          </c:tx>
          <c:spPr>
            <a:solidFill>
              <a:srgbClr val="E84855"/>
            </a:solidFill>
            <a:ln w="25400" cap="flat">
              <a:solidFill>
                <a:srgbClr val="E848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4855"/>
              </a:solidFill>
              <a:ln w="9525" cap="flat">
                <a:solidFill>
                  <a:srgbClr val="E848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40.8</c:v>
                </c:pt>
                <c:pt idx="1">
                  <c:v>45.26</c:v>
                </c:pt>
                <c:pt idx="2">
                  <c:v>55.82</c:v>
                </c:pt>
                <c:pt idx="3">
                  <c:v>58.09</c:v>
                </c:pt>
                <c:pt idx="4">
                  <c:v>62.75</c:v>
                </c:pt>
                <c:pt idx="5">
                  <c:v>66.44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Expiry</c:v>
                </c:pt>
              </c:strCache>
            </c:strRef>
          </c:tx>
          <c:spPr>
            <a:solidFill>
              <a:srgbClr val="FF9F1C"/>
            </a:solidFill>
            <a:ln w="25400" cap="flat">
              <a:solidFill>
                <a:srgbClr val="FF9F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F1C"/>
              </a:solidFill>
              <a:ln w="9525" cap="flat">
                <a:solidFill>
                  <a:srgbClr val="FF9F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55.32</c:v>
                </c:pt>
                <c:pt idx="1">
                  <c:v>57.18</c:v>
                </c:pt>
                <c:pt idx="2">
                  <c:v>58.68</c:v>
                </c:pt>
                <c:pt idx="3">
                  <c:v>59.64</c:v>
                </c:pt>
                <c:pt idx="4">
                  <c:v>61.44</c:v>
                </c:pt>
                <c:pt idx="5">
                  <c:v>62.66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Fidelity at use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0.8584</c:v>
                </c:pt>
                <c:pt idx="1">
                  <c:v>0.7856</c:v>
                </c:pt>
                <c:pt idx="2">
                  <c:v>0.7732</c:v>
                </c:pt>
                <c:pt idx="3">
                  <c:v>0.7344</c:v>
                </c:pt>
                <c:pt idx="4">
                  <c:v>0.7035</c:v>
                </c:pt>
                <c:pt idx="5">
                  <c:v>0.653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FF9F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Fixed</c:v>
                  </c:pt>
                  <c:pt idx="1">
                    <c:v>Dynamic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2793</c:v>
                </c:pt>
                <c:pt idx="1">
                  <c:v>3602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Terminal misses</c:v>
                </c:pt>
              </c:strCache>
            </c:strRef>
          </c:tx>
          <c:spPr>
            <a:solidFill>
              <a:srgbClr val="B9C6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Fixed</c:v>
                  </c:pt>
                  <c:pt idx="1">
                    <c:v>Dynamic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2161</c:v>
                </c:pt>
                <c:pt idx="1">
                  <c:v>1352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95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7B6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ODG</c:v>
                  </c:pt>
                  <c:pt idx="1">
                    <c:v>CGP</c:v>
                  </c:pt>
                  <c:pt idx="2">
                    <c:v>ACGP</c:v>
                  </c:pt>
                  <c:pt idx="3">
                    <c:v>Fixed Δ2</c:v>
                  </c:pt>
                  <c:pt idx="4">
                    <c:v>Dynamic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1.104216</c:v>
                </c:pt>
                <c:pt idx="1">
                  <c:v>0.547729</c:v>
                </c:pt>
                <c:pt idx="2">
                  <c:v>0.476298</c:v>
                </c:pt>
                <c:pt idx="3">
                  <c:v>0.658471</c:v>
                </c:pt>
                <c:pt idx="4">
                  <c:v>0.615906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914400"/>
            <a:ext cx="4937760" cy="4937760"/>
          </a:xfrm>
          <a:prstGeom prst="arc">
            <a:avLst/>
          </a:prstGeom>
          <a:noFill/>
          <a:ln w="38100">
            <a:solidFill>
              <a:srgbClr val="70C1B3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834640"/>
            <a:ext cx="3931920" cy="3931920"/>
          </a:xfrm>
          <a:prstGeom prst="arc">
            <a:avLst/>
          </a:prstGeom>
          <a:noFill/>
          <a:ln w="38100">
            <a:solidFill>
              <a:srgbClr val="FF9F1C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Compiler-Driven EPR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Pre-Generation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816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DF"/>
                </a:solidFill>
              </a:rPr>
              <a:t>Physical validation, memory trade-offs, and reproducible evidence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5897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C1B3"/>
                </a:solidFill>
              </a:rPr>
              <a:t>BTP Research Project ·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Can compiler knowledge prepare the exact EPR pair early enough to reduce request service latency?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01952"/>
            <a:ext cx="220370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trace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A → B requests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0" y="1828800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901952"/>
            <a:ext cx="220370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Request-specific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29400" y="1828800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901952"/>
            <a:ext cx="220370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generation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and memory noise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0" y="182880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3EEFB"/>
          </a:solidFill>
          <a:ln w="1270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0928" y="1901952"/>
            <a:ext cx="165506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pair at use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demand fallback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08960" y="2359152"/>
            <a:ext cx="54864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80760" y="2359152"/>
            <a:ext cx="54864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2359152"/>
            <a:ext cx="54864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6012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readiness, service latency, fidelity at use, expiry, fallback, and pair identity.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scheduling model to physical evidence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138074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Topology-correct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routing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31720" y="2450592"/>
            <a:ext cx="73152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63240" y="192024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1993392"/>
            <a:ext cx="138074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ODG / CGP / ACGP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2450592"/>
            <a:ext cx="73152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94960" y="192024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1993392"/>
            <a:ext cx="138074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SeQUeNCe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execution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5160" y="2450592"/>
            <a:ext cx="73152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26680" y="192024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3EEFB"/>
          </a:solidFill>
          <a:ln w="1270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1993392"/>
            <a:ext cx="138074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 lifecycle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provenance repair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326880" y="2450592"/>
            <a:ext cx="73152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058400" y="192024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68128" y="1993392"/>
            <a:ext cx="138074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audits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297680"/>
            <a:ext cx="10332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analytical model chooses policies. Physical backends execute stochastic generation, retries, decoherence, and fallback.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Locked experimental workload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81912"/>
            <a:ext cx="1655064" cy="813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4×4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mesh, 16 cores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07792" y="150876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581912"/>
            <a:ext cx="1655064" cy="813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907792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qubits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75504" y="150876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1581912"/>
            <a:ext cx="1655064" cy="813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4,954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175504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inter-core transfers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43216" y="150876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3EEFB"/>
          </a:solidFill>
          <a:ln w="1270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2944" y="1581912"/>
            <a:ext cx="1655064" cy="813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2,831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443216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conflict-free sublayers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10928" y="150876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0656" y="1581912"/>
            <a:ext cx="1655064" cy="813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710928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seeds per cell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SHA-256  61d97492195aea40fad48d5bc4e1b48b2dd019eea20fe24aada8c954e3073da1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numerical result auditable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contract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94560" y="2468880"/>
            <a:ext cx="347472" cy="0"/>
          </a:xfrm>
          <a:prstGeom prst="line">
            <a:avLst/>
          </a:prstGeom>
          <a:noFill/>
          <a:ln w="19050">
            <a:solidFill>
              <a:srgbClr val="70C1B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42032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seeds 0–29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96512" y="2468880"/>
            <a:ext cx="347472" cy="0"/>
          </a:xfrm>
          <a:prstGeom prst="line">
            <a:avLst/>
          </a:prstGeom>
          <a:noFill/>
          <a:ln w="19050">
            <a:solidFill>
              <a:srgbClr val="70C1B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43984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runs.json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98464" y="2468880"/>
            <a:ext cx="347472" cy="0"/>
          </a:xfrm>
          <a:prstGeom prst="line">
            <a:avLst/>
          </a:prstGeom>
          <a:noFill/>
          <a:ln w="19050">
            <a:solidFill>
              <a:srgbClr val="70C1B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45936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hash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00416" y="2468880"/>
            <a:ext cx="347472" cy="0"/>
          </a:xfrm>
          <a:prstGeom prst="line">
            <a:avLst/>
          </a:prstGeom>
          <a:noFill/>
          <a:ln w="19050">
            <a:solidFill>
              <a:srgbClr val="70C1B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47888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audit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802368" y="2468880"/>
            <a:ext cx="347472" cy="0"/>
          </a:xfrm>
          <a:prstGeom prst="line">
            <a:avLst/>
          </a:prstGeom>
          <a:noFill/>
          <a:ln w="19050">
            <a:solidFill>
              <a:srgbClr val="70C1B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49840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59568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Pair-identity audit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069080"/>
            <a:ext cx="102412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seed-zero run is a smoke test. Final claims require all 30 paired replications and passing audits.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 fixed-lead sensitivity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Audited static 3+1, 2+2, 1+1 and shared-pool matrices · 30 paired seeds per point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23444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150876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19288" y="1581912"/>
            <a:ext cx="311810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Δ1 best latency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3+1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909560" y="246888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19288" y="2542032"/>
            <a:ext cx="311810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Δ1 best latency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2+2 and shared pool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909560" y="342900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9288" y="3502152"/>
            <a:ext cx="311810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Δ2 lowest mean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1+1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955280" y="4617720"/>
            <a:ext cx="3200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1+1 Δ1/Δ2 difference is 0.002186 ms. Interpret it using paired raw data.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Shared-pool fixed-lead trade-offs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Legacy cap-three admission, 30 paired seeds per lead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23444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7543800" y="1234440"/>
          <a:ext cx="3886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demand fallback remains necessary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325880"/>
          <a:ext cx="62179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600200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07808" y="1673352"/>
            <a:ext cx="307238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compiler-only 4+0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80960" y="2560320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Seed-zero coverage diagnostic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demand fallback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3524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knowledge does not eliminate finite capacity, physical failure, or missed deadlines.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 adaptive baselines and compiler scheduling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Historical shared-pool Δ2 snapshot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1887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508760"/>
            <a:ext cx="3246120" cy="777240"/>
          </a:xfrm>
          <a:prstGeom prst="roundRect">
            <a:avLst>
              <a:gd name="adj" fmla="val 7059"/>
            </a:avLst>
          </a:prstGeom>
          <a:solidFill>
            <a:srgbClr val="F3EEFB"/>
          </a:solidFill>
          <a:ln w="1270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27848" y="1581912"/>
            <a:ext cx="3026664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latency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ACGP 0.476 ms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818120" y="2560320"/>
            <a:ext cx="3246120" cy="777240"/>
          </a:xfrm>
          <a:prstGeom prst="roundRect">
            <a:avLst>
              <a:gd name="adj" fmla="val 7059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27848" y="2633472"/>
            <a:ext cx="3026664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compiler expiry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14.32%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18120" y="3611880"/>
            <a:ext cx="3246120" cy="777240"/>
          </a:xfrm>
          <a:prstGeom prst="roundRect">
            <a:avLst>
              <a:gd name="adj" fmla="val 7059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27848" y="3685032"/>
            <a:ext cx="3026664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fixed row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Δ2 only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 and native answer complementary questions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81912"/>
            <a:ext cx="3621024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452360" y="150876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62088" y="1581912"/>
            <a:ext cx="3621024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SeQUeNCe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reservation/cache lifecycle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Application-service latency endpoint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4380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Barrett–Kok generation, retries, swapping,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teleportation, receiver correction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83480" y="2011680"/>
            <a:ext cx="219456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920240" y="4800600"/>
            <a:ext cx="8412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policy direction and trade-offs within one backend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research controls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154680" cy="713232"/>
          </a:xfrm>
          <a:prstGeom prst="roundRect">
            <a:avLst>
              <a:gd name="adj" fmla="val 7692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10512"/>
            <a:ext cx="2935224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Cap-four wait-on-demand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71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 endpoint allocation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Pending-demand priority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3154680" cy="713232"/>
          </a:xfrm>
          <a:prstGeom prst="roundRect">
            <a:avLst>
              <a:gd name="adj" fmla="val 7692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810512"/>
            <a:ext cx="2935224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fixed-lead matrices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2971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and shared pool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Δ1 through Δ6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3154680" cy="713232"/>
          </a:xfrm>
          <a:prstGeom prst="roundRect">
            <a:avLst>
              <a:gd name="adj" fmla="val 7692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0768" y="1810512"/>
            <a:ext cx="2935224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routing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12480" y="2743200"/>
            <a:ext cx="2971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path planning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runtime route choice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0120" y="4709160"/>
            <a:ext cx="10241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final number will retain an immutable contract, 30 paired seeds, trace hash, raw provenance, and identity audit.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evidence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691640"/>
            <a:ext cx="164592" cy="164592"/>
          </a:xfrm>
          <a:prstGeom prst="ellipse">
            <a:avLst/>
          </a:prstGeom>
          <a:solidFill>
            <a:srgbClr val="70C1B3"/>
          </a:solidFill>
          <a:ln w="12700">
            <a:solidFill>
              <a:srgbClr val="70C1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1591056"/>
            <a:ext cx="9601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 fixed-lead sensitivity: completed and audited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542032"/>
            <a:ext cx="164592" cy="164592"/>
          </a:xfrm>
          <a:prstGeom prst="ellipse">
            <a:avLst/>
          </a:prstGeom>
          <a:solidFill>
            <a:srgbClr val="70C1B3"/>
          </a:solidFill>
          <a:ln w="12700">
            <a:solidFill>
              <a:srgbClr val="70C1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441448"/>
            <a:ext cx="9601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 static 3+1, 2+2, 1+1: completed and audited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392424"/>
            <a:ext cx="164592" cy="164592"/>
          </a:xfrm>
          <a:prstGeom prst="ellipse">
            <a:avLst/>
          </a:prstGeom>
          <a:solidFill>
            <a:srgbClr val="70C1B3"/>
          </a:solidFill>
          <a:ln w="12700">
            <a:solidFill>
              <a:srgbClr val="70C1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291840"/>
            <a:ext cx="9601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Shared-pool atomic cap-four: implemented control, final matrix pending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242816"/>
            <a:ext cx="164592" cy="164592"/>
          </a:xfrm>
          <a:prstGeom prst="ellipse">
            <a:avLst/>
          </a:prstGeom>
          <a:solidFill>
            <a:srgbClr val="70C1B3"/>
          </a:solidFill>
          <a:ln w="12700">
            <a:solidFill>
              <a:srgbClr val="70C1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4142232"/>
            <a:ext cx="9601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fixed-lead and adaptive matrices: pending audit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9808" y="5897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0C1B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IIT Guwahati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Compiler-Driven ACE</dc:title>
  <dc:subject>Compiler-Driven EPR Pre-Generation</dc:subject>
  <dc:creator>BTP Research Project</dc:creator>
  <cp:lastModifiedBy>BTP Research Project</cp:lastModifiedBy>
  <cp:revision>1</cp:revision>
  <dcterms:created xsi:type="dcterms:W3CDTF">2026-09-10T13:23:59Z</dcterms:created>
  <dcterms:modified xsi:type="dcterms:W3CDTF">2026-09-10T13:23:59Z</dcterms:modified>
</cp:coreProperties>
</file>