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8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ms</c:v>
                </c:pt>
              </c:strCache>
            </c:strRef>
          </c:tx>
          <c:spPr>
            <a:solidFill>
              <a:srgbClr val="4D9D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Full ODG</c:v>
                  </c:pt>
                  <c:pt idx="1">
                    <c:v>Matched ODG</c:v>
                  </c:pt>
                  <c:pt idx="2">
                    <c:v>Fixed</c:v>
                  </c:pt>
                  <c:pt idx="3">
                    <c:v>Dynamic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0.2095</c:v>
                </c:pt>
                <c:pt idx="1">
                  <c:v>0.5214</c:v>
                </c:pt>
                <c:pt idx="2">
                  <c:v>0.3135</c:v>
                </c:pt>
                <c:pt idx="3">
                  <c:v>0.3524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AF2F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12700" cap="flat">
              <a:solidFill>
                <a:srgbClr val="D6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3+1</c:v>
                </c:pt>
              </c:strCache>
            </c:strRef>
          </c:tx>
          <c:spPr>
            <a:solidFill>
              <a:srgbClr val="47E6E0"/>
            </a:solidFill>
            <a:ln w="25400" cap="flat">
              <a:solidFill>
                <a:srgbClr val="47E6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7E6E0"/>
              </a:solidFill>
              <a:ln w="9525" cap="flat">
                <a:solidFill>
                  <a:srgbClr val="47E6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0.553104</c:v>
                </c:pt>
                <c:pt idx="1">
                  <c:v>0.633231</c:v>
                </c:pt>
                <c:pt idx="2">
                  <c:v>0.697352</c:v>
                </c:pt>
                <c:pt idx="3">
                  <c:v>0.732664</c:v>
                </c:pt>
                <c:pt idx="4">
                  <c:v>0.772076</c:v>
                </c:pt>
                <c:pt idx="5">
                  <c:v>0.807971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2+2</c:v>
                </c:pt>
              </c:strCache>
            </c:strRef>
          </c:tx>
          <c:spPr>
            <a:solidFill>
              <a:srgbClr val="F7BF4F"/>
            </a:solidFill>
            <a:ln w="25400" cap="flat">
              <a:solidFill>
                <a:srgbClr val="F7BF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7BF4F"/>
              </a:solidFill>
              <a:ln w="9525" cap="flat">
                <a:solidFill>
                  <a:srgbClr val="F7BF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0.720845</c:v>
                </c:pt>
                <c:pt idx="1">
                  <c:v>0.805677</c:v>
                </c:pt>
                <c:pt idx="2">
                  <c:v>0.846865</c:v>
                </c:pt>
                <c:pt idx="3">
                  <c:v>0.865266</c:v>
                </c:pt>
                <c:pt idx="4">
                  <c:v>0.890028</c:v>
                </c:pt>
                <c:pt idx="5">
                  <c:v>0.919232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1+1</c:v>
                </c:pt>
              </c:strCache>
            </c:strRef>
          </c:tx>
          <c:spPr>
            <a:solidFill>
              <a:srgbClr val="FF4D6D"/>
            </a:solidFill>
            <a:ln w="25400" cap="flat">
              <a:solidFill>
                <a:srgbClr val="FF4D6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4D6D"/>
              </a:solidFill>
              <a:ln w="9525" cap="flat">
                <a:solidFill>
                  <a:srgbClr val="FF4D6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0.910873</c:v>
                </c:pt>
                <c:pt idx="1">
                  <c:v>0.908687</c:v>
                </c:pt>
                <c:pt idx="2">
                  <c:v>0.943862</c:v>
                </c:pt>
                <c:pt idx="3">
                  <c:v>0.959724</c:v>
                </c:pt>
                <c:pt idx="4">
                  <c:v>0.97947</c:v>
                </c:pt>
                <c:pt idx="5">
                  <c:v>0.994275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AF2F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5"/>
        </c:scaling>
        <c:delete val="0"/>
        <c:axPos val="l"/>
        <c:majorGridlines>
          <c:spPr>
            <a:ln w="12700" cap="flat">
              <a:solidFill>
                <a:srgbClr val="D6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AF2F8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Pre-ready</c:v>
                </c:pt>
              </c:strCache>
            </c:strRef>
          </c:tx>
          <c:spPr>
            <a:solidFill>
              <a:srgbClr val="47E6E0"/>
            </a:solidFill>
            <a:ln w="25400" cap="flat">
              <a:solidFill>
                <a:srgbClr val="47E6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7E6E0"/>
              </a:solidFill>
              <a:ln w="9525" cap="flat">
                <a:solidFill>
                  <a:srgbClr val="47E6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59.17</c:v>
                </c:pt>
                <c:pt idx="1">
                  <c:v>54.72</c:v>
                </c:pt>
                <c:pt idx="2">
                  <c:v>44.15</c:v>
                </c:pt>
                <c:pt idx="3">
                  <c:v>41.91</c:v>
                </c:pt>
                <c:pt idx="4">
                  <c:v>37.25</c:v>
                </c:pt>
                <c:pt idx="5">
                  <c:v>33.56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Fallback</c:v>
                </c:pt>
              </c:strCache>
            </c:strRef>
          </c:tx>
          <c:spPr>
            <a:solidFill>
              <a:srgbClr val="FF4D6D"/>
            </a:solidFill>
            <a:ln w="25400" cap="flat">
              <a:solidFill>
                <a:srgbClr val="FF4D6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4D6D"/>
              </a:solidFill>
              <a:ln w="9525" cap="flat">
                <a:solidFill>
                  <a:srgbClr val="FF4D6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40.8</c:v>
                </c:pt>
                <c:pt idx="1">
                  <c:v>45.26</c:v>
                </c:pt>
                <c:pt idx="2">
                  <c:v>55.82</c:v>
                </c:pt>
                <c:pt idx="3">
                  <c:v>58.09</c:v>
                </c:pt>
                <c:pt idx="4">
                  <c:v>62.75</c:v>
                </c:pt>
                <c:pt idx="5">
                  <c:v>66.44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Expiry</c:v>
                </c:pt>
              </c:strCache>
            </c:strRef>
          </c:tx>
          <c:spPr>
            <a:solidFill>
              <a:srgbClr val="F7BF4F"/>
            </a:solidFill>
            <a:ln w="25400" cap="flat">
              <a:solidFill>
                <a:srgbClr val="F7BF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7BF4F"/>
              </a:solidFill>
              <a:ln w="9525" cap="flat">
                <a:solidFill>
                  <a:srgbClr val="F7BF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55.32</c:v>
                </c:pt>
                <c:pt idx="1">
                  <c:v>57.18</c:v>
                </c:pt>
                <c:pt idx="2">
                  <c:v>58.68</c:v>
                </c:pt>
                <c:pt idx="3">
                  <c:v>59.64</c:v>
                </c:pt>
                <c:pt idx="4">
                  <c:v>61.44</c:v>
                </c:pt>
                <c:pt idx="5">
                  <c:v>62.66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AF2F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6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AF2F8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Fidelity at use</c:v>
                </c:pt>
              </c:strCache>
            </c:strRef>
          </c:tx>
          <c:spPr>
            <a:solidFill>
              <a:srgbClr val="66CDAA"/>
            </a:solidFill>
            <a:ln w="25400" cap="flat">
              <a:solidFill>
                <a:srgbClr val="66CD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6CDAA"/>
              </a:solidFill>
              <a:ln w="9525" cap="flat">
                <a:solidFill>
                  <a:srgbClr val="66CD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0.8584</c:v>
                </c:pt>
                <c:pt idx="1">
                  <c:v>0.7856</c:v>
                </c:pt>
                <c:pt idx="2">
                  <c:v>0.7732</c:v>
                </c:pt>
                <c:pt idx="3">
                  <c:v>0.7344</c:v>
                </c:pt>
                <c:pt idx="4">
                  <c:v>0.7035</c:v>
                </c:pt>
                <c:pt idx="5">
                  <c:v>0.653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AF2F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l"/>
        <c:majorGridlines>
          <c:spPr>
            <a:ln w="12700" cap="flat">
              <a:solidFill>
                <a:srgbClr val="D6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AF2F8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F7BF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Fixed</c:v>
                  </c:pt>
                  <c:pt idx="1">
                    <c:v>Dynamic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2793</c:v>
                </c:pt>
                <c:pt idx="1">
                  <c:v>3602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Terminal misses</c:v>
                </c:pt>
              </c:strCache>
            </c:strRef>
          </c:tx>
          <c:spPr>
            <a:solidFill>
              <a:srgbClr val="3141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Fixed</c:v>
                  </c:pt>
                  <c:pt idx="1">
                    <c:v>Dynamic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2161</c:v>
                </c:pt>
                <c:pt idx="1">
                  <c:v>1352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AF2F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954"/>
          <c:min val="0"/>
        </c:scaling>
        <c:delete val="0"/>
        <c:axPos val="l"/>
        <c:majorGridlines>
          <c:spPr>
            <a:ln w="12700" cap="flat">
              <a:solidFill>
                <a:srgbClr val="D6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AF2F8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ms</c:v>
                </c:pt>
              </c:strCache>
            </c:strRef>
          </c:tx>
          <c:spPr>
            <a:solidFill>
              <a:srgbClr val="FF4D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ODG</c:v>
                  </c:pt>
                  <c:pt idx="1">
                    <c:v>Fixed Δ2</c:v>
                  </c:pt>
                  <c:pt idx="2">
                    <c:v>Dynamic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1.104216</c:v>
                </c:pt>
                <c:pt idx="1">
                  <c:v>0.658471</c:v>
                </c:pt>
                <c:pt idx="2">
                  <c:v>0.615906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AF2F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12700" cap="flat">
              <a:solidFill>
                <a:srgbClr val="D6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ms</c:v>
                </c:pt>
              </c:strCache>
            </c:strRef>
          </c:tx>
          <c:spPr>
            <a:solidFill>
              <a:srgbClr val="66CD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ODG</c:v>
                  </c:pt>
                  <c:pt idx="1">
                    <c:v>Fixed Δ2</c:v>
                  </c:pt>
                  <c:pt idx="2">
                    <c:v>Dynamic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0.076451</c:v>
                </c:pt>
                <c:pt idx="1">
                  <c:v>0.005092</c:v>
                </c:pt>
                <c:pt idx="2">
                  <c:v>0.019885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AF2F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85"/>
          <c:min val="0"/>
        </c:scaling>
        <c:delete val="0"/>
        <c:axPos val="l"/>
        <c:majorGridlines>
          <c:spPr>
            <a:ln w="12700" cap="flat">
              <a:solidFill>
                <a:srgbClr val="D6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ms</c:v>
                </c:pt>
              </c:strCache>
            </c:strRef>
          </c:tx>
          <c:spPr>
            <a:solidFill>
              <a:srgbClr val="8064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ODG</c:v>
                  </c:pt>
                  <c:pt idx="1">
                    <c:v>CGP</c:v>
                  </c:pt>
                  <c:pt idx="2">
                    <c:v>ACGP</c:v>
                  </c:pt>
                  <c:pt idx="3">
                    <c:v>Fixed Δ2</c:v>
                  </c:pt>
                  <c:pt idx="4">
                    <c:v>Dynamic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1.104216</c:v>
                </c:pt>
                <c:pt idx="1">
                  <c:v>0.547729</c:v>
                </c:pt>
                <c:pt idx="2">
                  <c:v>0.476298</c:v>
                </c:pt>
                <c:pt idx="3">
                  <c:v>0.658471</c:v>
                </c:pt>
                <c:pt idx="4">
                  <c:v>0.615906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AF2F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12700" cap="flat">
              <a:solidFill>
                <a:srgbClr val="D6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2F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citations in BTP_REPORT_SOURCE.tex, Research paper study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BTP_REPORT_SOURCE.tex and audited ACE result artifacts, 10 Sep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914400"/>
            <a:ext cx="4937760" cy="4937760"/>
          </a:xfrm>
          <a:prstGeom prst="arc">
            <a:avLst/>
          </a:prstGeom>
          <a:noFill/>
          <a:ln w="38100">
            <a:solidFill>
              <a:srgbClr val="47E6E0">
                <a:alpha val="6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291840"/>
            <a:ext cx="3840480" cy="3840480"/>
          </a:xfrm>
          <a:prstGeom prst="arc">
            <a:avLst/>
          </a:prstGeom>
          <a:noFill/>
          <a:ln w="38100">
            <a:solidFill>
              <a:srgbClr val="FF4D6D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INDIAN INSTITUTE OF TECHNOLOGY GUWAHATI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MARS Laboratory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Compiler-Driven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EPR Pre-Generation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76656" y="306324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validation, memory trade-offs, and reproducible evidence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" y="58064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Research Project · 10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research question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E7F2FA"/>
          </a:solidFill>
          <a:ln w="10160">
            <a:solidFill>
              <a:srgbClr val="E7F2F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057400"/>
            <a:ext cx="218541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trace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A to B requests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20116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2D5"/>
          </a:solidFill>
          <a:ln w="10160">
            <a:solidFill>
              <a:srgbClr val="FFF2D5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2057400"/>
            <a:ext cx="20025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pair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early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97880" y="2011680"/>
            <a:ext cx="2240280" cy="960120"/>
          </a:xfrm>
          <a:prstGeom prst="roundRect">
            <a:avLst>
              <a:gd name="adj" fmla="val 5714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71032" y="2057400"/>
            <a:ext cx="209397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generation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and noise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03920" y="201168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F6E8FA"/>
          </a:solidFill>
          <a:ln w="10160">
            <a:solidFill>
              <a:srgbClr val="F6E8FA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77072" y="2057400"/>
            <a:ext cx="223113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exact pair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demand fallback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17520" y="2487168"/>
            <a:ext cx="365760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32120" y="2487168"/>
            <a:ext cx="365760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38160" y="2487168"/>
            <a:ext cx="365760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4206240"/>
            <a:ext cx="102412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compiler knowledge reduce service latency without consuming demand recovery capacity?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progression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38912" y="850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topology-correct communication to audited physical results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E7F2FA"/>
          </a:solidFill>
          <a:ln w="10160">
            <a:solidFill>
              <a:srgbClr val="E7F2FA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920240"/>
            <a:ext cx="15910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2514600"/>
            <a:ext cx="168249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classical links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XY routing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40280" y="2112264"/>
            <a:ext cx="548640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34640" y="187452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FFF2D5"/>
          </a:solidFill>
          <a:ln w="10160">
            <a:solidFill>
              <a:srgbClr val="FFF2D5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1920240"/>
            <a:ext cx="15910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62072" y="2514600"/>
            <a:ext cx="168249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ODG · CGP · ACGP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· Dynamic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2112264"/>
            <a:ext cx="548640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66360" y="187452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1920240"/>
            <a:ext cx="15910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physics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93792" y="2514600"/>
            <a:ext cx="168249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Barrett-Kok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· teleportation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03720" y="2112264"/>
            <a:ext cx="548640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98080" y="187452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F6E8FA"/>
          </a:solidFill>
          <a:ln w="10160">
            <a:solidFill>
              <a:srgbClr val="F6E8FA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1920240"/>
            <a:ext cx="15910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 repair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25512" y="2514600"/>
            <a:ext cx="168249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Reservation lifecycle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provenance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235440" y="2112264"/>
            <a:ext cx="548640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29800" y="187452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2952" y="1920240"/>
            <a:ext cx="15910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57232" y="2514600"/>
            <a:ext cx="168249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 · seeds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audits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343400"/>
            <a:ext cx="10241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analytical schedule creates the opportunity. Physical execution determines the observed result.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paper study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60120" y="1828800"/>
            <a:ext cx="914400" cy="914400"/>
          </a:xfrm>
          <a:prstGeom prst="ellipse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29968"/>
            <a:ext cx="914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Kolar et al.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" y="3337560"/>
            <a:ext cx="188366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continuous generation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1828800"/>
            <a:ext cx="914400" cy="914400"/>
          </a:xfrm>
          <a:prstGeom prst="ellipse">
            <a:avLst/>
          </a:prstGeom>
          <a:solidFill>
            <a:srgbClr val="F7BF4F"/>
          </a:solidFill>
          <a:ln w="12700">
            <a:solidFill>
              <a:srgbClr val="F7BF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2029968"/>
            <a:ext cx="914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2900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Zhan et al.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64408" y="3337560"/>
            <a:ext cx="188366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Protocol-level SeQUeNCe ACP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1828800"/>
            <a:ext cx="914400" cy="914400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029968"/>
            <a:ext cx="914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Chen et al.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53328" y="3337560"/>
            <a:ext cx="188366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EPR pre-allocation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26880" y="1828800"/>
            <a:ext cx="914400" cy="914400"/>
          </a:xfrm>
          <a:prstGeom prst="ellipse">
            <a:avLst/>
          </a:prstGeom>
          <a:solidFill>
            <a:srgbClr val="66CDAA"/>
          </a:solidFill>
          <a:ln w="12700">
            <a:solidFill>
              <a:srgbClr val="66CD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2029968"/>
            <a:ext cx="914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0684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Suance et al.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42248" y="3337560"/>
            <a:ext cx="188366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Multi-core policy framework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892040"/>
            <a:ext cx="10058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review led directly to finite capacity, expiry, fidelity, and demand-recovery controls.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Locked experimental workload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2057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4×4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587752"/>
            <a:ext cx="2057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mesh · 16 cores · 24 links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2011680"/>
            <a:ext cx="2057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B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834640" y="2587752"/>
            <a:ext cx="2057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qubits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2011680"/>
            <a:ext cx="2057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4,954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983480" y="2587752"/>
            <a:ext cx="2057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inter-core transfers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2011680"/>
            <a:ext cx="2057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6CD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2,831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132320" y="2587752"/>
            <a:ext cx="2057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conflict-free sublayers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281160" y="2011680"/>
            <a:ext cx="2057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9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281160" y="2587752"/>
            <a:ext cx="2057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seeds per cell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0" y="3941064"/>
            <a:ext cx="548640" cy="0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931920" y="4014216"/>
            <a:ext cx="0" cy="192024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40480" y="3794760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3941064"/>
            <a:ext cx="548640" cy="0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46320" y="4014216"/>
            <a:ext cx="0" cy="192024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54880" y="3794760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3941064"/>
            <a:ext cx="548640" cy="0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60720" y="4014216"/>
            <a:ext cx="0" cy="192024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669280" y="3794760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4014216"/>
            <a:ext cx="0" cy="192024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83680" y="3794760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4416552"/>
            <a:ext cx="548640" cy="0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931920" y="4489704"/>
            <a:ext cx="0" cy="192024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840480" y="4270248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4416552"/>
            <a:ext cx="548640" cy="0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46320" y="4489704"/>
            <a:ext cx="0" cy="192024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754880" y="4270248"/>
            <a:ext cx="292608" cy="292608"/>
          </a:xfrm>
          <a:prstGeom prst="ellipse">
            <a:avLst/>
          </a:prstGeom>
          <a:solidFill>
            <a:srgbClr val="FF4D6D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4416552"/>
            <a:ext cx="548640" cy="0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760720" y="4489704"/>
            <a:ext cx="0" cy="192024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669280" y="4270248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4489704"/>
            <a:ext cx="0" cy="192024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583680" y="4270248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4892040"/>
            <a:ext cx="548640" cy="0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931920" y="4965192"/>
            <a:ext cx="0" cy="192024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840480" y="4745736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4892040"/>
            <a:ext cx="548640" cy="0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846320" y="4965192"/>
            <a:ext cx="0" cy="192024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754880" y="4745736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52160" y="4892040"/>
            <a:ext cx="548640" cy="0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760720" y="4965192"/>
            <a:ext cx="0" cy="192024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669280" y="4745736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75120" y="4965192"/>
            <a:ext cx="0" cy="192024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583680" y="4745736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0" y="5367528"/>
            <a:ext cx="548640" cy="0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840480" y="5221224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37760" y="5367528"/>
            <a:ext cx="548640" cy="0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754880" y="5221224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52160" y="5367528"/>
            <a:ext cx="548640" cy="0"/>
          </a:xfrm>
          <a:prstGeom prst="line">
            <a:avLst/>
          </a:prstGeom>
          <a:noFill/>
          <a:ln w="19050">
            <a:solidFill>
              <a:srgbClr val="314152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669280" y="5221224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83680" y="5221224"/>
            <a:ext cx="292608" cy="292608"/>
          </a:xfrm>
          <a:prstGeom prst="ellipse">
            <a:avLst/>
          </a:prstGeom>
          <a:solidFill>
            <a:srgbClr val="E7F2FA"/>
          </a:solidFill>
          <a:ln w="6350">
            <a:solidFill>
              <a:srgbClr val="47E6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88720" y="5715000"/>
            <a:ext cx="9784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 61d97492195aea40fad48d5bc4e1b48b2dd019eea20fe24aada8c954e3073da1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Policies and memory configurations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286000" cy="512064"/>
          </a:xfrm>
          <a:prstGeom prst="roundRect">
            <a:avLst>
              <a:gd name="adj" fmla="val 10714"/>
            </a:avLst>
          </a:prstGeom>
          <a:solidFill>
            <a:srgbClr val="E7F2FA"/>
          </a:solidFill>
          <a:ln w="10160">
            <a:solidFill>
              <a:srgbClr val="E7F2F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08760"/>
            <a:ext cx="213969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request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286000" cy="512064"/>
          </a:xfrm>
          <a:prstGeom prst="roundRect">
            <a:avLst>
              <a:gd name="adj" fmla="val 10714"/>
            </a:avLst>
          </a:prstGeom>
          <a:solidFill>
            <a:srgbClr val="F6E8FA"/>
          </a:solidFill>
          <a:ln w="10160">
            <a:solidFill>
              <a:srgbClr val="F6E8FA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1508760"/>
            <a:ext cx="213969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CGP / ACGP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429000" y="2084832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speculative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2286000" cy="512064"/>
          </a:xfrm>
          <a:prstGeom prst="roundRect">
            <a:avLst>
              <a:gd name="adj" fmla="val 10714"/>
            </a:avLst>
          </a:prstGeom>
          <a:solidFill>
            <a:srgbClr val="FFF2D5"/>
          </a:solidFill>
          <a:ln w="10160">
            <a:solidFill>
              <a:srgbClr val="FFF2D5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508760"/>
            <a:ext cx="213969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09360" y="2084832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lead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89720" y="1463040"/>
            <a:ext cx="2286000" cy="512064"/>
          </a:xfrm>
          <a:prstGeom prst="roundRect">
            <a:avLst>
              <a:gd name="adj" fmla="val 10714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1508760"/>
            <a:ext cx="213969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189720" y="2084832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feasible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3+1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920240" y="3017520"/>
            <a:ext cx="658368" cy="347472"/>
          </a:xfrm>
          <a:prstGeom prst="roundRect">
            <a:avLst/>
          </a:prstGeom>
          <a:solidFill>
            <a:srgbClr val="47E6E0"/>
          </a:solidFill>
          <a:ln w="7620">
            <a:solidFill>
              <a:srgbClr val="47E6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3017520"/>
            <a:ext cx="658368" cy="347472"/>
          </a:xfrm>
          <a:prstGeom prst="roundRect">
            <a:avLst/>
          </a:prstGeom>
          <a:solidFill>
            <a:srgbClr val="47E6E0"/>
          </a:solidFill>
          <a:ln w="7620">
            <a:solidFill>
              <a:srgbClr val="47E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3017520"/>
            <a:ext cx="658368" cy="347472"/>
          </a:xfrm>
          <a:prstGeom prst="roundRect">
            <a:avLst/>
          </a:prstGeom>
          <a:solidFill>
            <a:srgbClr val="47E6E0"/>
          </a:solidFill>
          <a:ln w="7620">
            <a:solidFill>
              <a:srgbClr val="47E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017520"/>
            <a:ext cx="658368" cy="347472"/>
          </a:xfrm>
          <a:prstGeom prst="roundRect">
            <a:avLst/>
          </a:prstGeom>
          <a:solidFill>
            <a:srgbClr val="F7BF4F"/>
          </a:solidFill>
          <a:ln w="7620">
            <a:solidFill>
              <a:srgbClr val="F7BF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666744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2+2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920240" y="3621024"/>
            <a:ext cx="658368" cy="347472"/>
          </a:xfrm>
          <a:prstGeom prst="roundRect">
            <a:avLst/>
          </a:prstGeom>
          <a:solidFill>
            <a:srgbClr val="47E6E0"/>
          </a:solidFill>
          <a:ln w="7620">
            <a:solidFill>
              <a:srgbClr val="47E6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0" y="3621024"/>
            <a:ext cx="658368" cy="347472"/>
          </a:xfrm>
          <a:prstGeom prst="roundRect">
            <a:avLst/>
          </a:prstGeom>
          <a:solidFill>
            <a:srgbClr val="47E6E0"/>
          </a:solidFill>
          <a:ln w="7620">
            <a:solidFill>
              <a:srgbClr val="47E6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3621024"/>
            <a:ext cx="658368" cy="347472"/>
          </a:xfrm>
          <a:prstGeom prst="roundRect">
            <a:avLst/>
          </a:prstGeom>
          <a:solidFill>
            <a:srgbClr val="F7BF4F"/>
          </a:solidFill>
          <a:ln w="7620">
            <a:solidFill>
              <a:srgbClr val="F7BF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621024"/>
            <a:ext cx="658368" cy="347472"/>
          </a:xfrm>
          <a:prstGeom prst="roundRect">
            <a:avLst/>
          </a:prstGeom>
          <a:solidFill>
            <a:srgbClr val="F7BF4F"/>
          </a:solidFill>
          <a:ln w="7620">
            <a:solidFill>
              <a:srgbClr val="F7BF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270248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1+1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920240" y="4224528"/>
            <a:ext cx="658368" cy="347472"/>
          </a:xfrm>
          <a:prstGeom prst="roundRect">
            <a:avLst/>
          </a:prstGeom>
          <a:solidFill>
            <a:srgbClr val="47E6E0"/>
          </a:solidFill>
          <a:ln w="7620">
            <a:solidFill>
              <a:srgbClr val="47E6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4640" y="4224528"/>
            <a:ext cx="658368" cy="347472"/>
          </a:xfrm>
          <a:prstGeom prst="roundRect">
            <a:avLst/>
          </a:prstGeom>
          <a:solidFill>
            <a:srgbClr val="F7BF4F"/>
          </a:solidFill>
          <a:ln w="7620">
            <a:solidFill>
              <a:srgbClr val="F7BF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9040" y="4224528"/>
            <a:ext cx="658368" cy="347472"/>
          </a:xfrm>
          <a:prstGeom prst="roundRect">
            <a:avLst/>
          </a:prstGeom>
          <a:solidFill>
            <a:srgbClr val="0B0F14">
              <a:alpha val="0"/>
            </a:srgbClr>
          </a:solidFill>
          <a:ln w="7620">
            <a:solidFill>
              <a:srgbClr val="3141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4224528"/>
            <a:ext cx="658368" cy="347472"/>
          </a:xfrm>
          <a:prstGeom prst="roundRect">
            <a:avLst/>
          </a:prstGeom>
          <a:solidFill>
            <a:srgbClr val="0B0F14">
              <a:alpha val="0"/>
            </a:srgbClr>
          </a:solidFill>
          <a:ln w="7620">
            <a:solidFill>
              <a:srgbClr val="3141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4873752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4+0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920240" y="4828032"/>
            <a:ext cx="658368" cy="347472"/>
          </a:xfrm>
          <a:prstGeom prst="roundRect">
            <a:avLst/>
          </a:prstGeom>
          <a:solidFill>
            <a:srgbClr val="47E6E0"/>
          </a:solidFill>
          <a:ln w="7620">
            <a:solidFill>
              <a:srgbClr val="47E6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4828032"/>
            <a:ext cx="658368" cy="347472"/>
          </a:xfrm>
          <a:prstGeom prst="roundRect">
            <a:avLst/>
          </a:prstGeom>
          <a:solidFill>
            <a:srgbClr val="47E6E0"/>
          </a:solidFill>
          <a:ln w="7620">
            <a:solidFill>
              <a:srgbClr val="47E6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49040" y="4828032"/>
            <a:ext cx="658368" cy="347472"/>
          </a:xfrm>
          <a:prstGeom prst="roundRect">
            <a:avLst/>
          </a:prstGeom>
          <a:solidFill>
            <a:srgbClr val="47E6E0"/>
          </a:solidFill>
          <a:ln w="7620">
            <a:solidFill>
              <a:srgbClr val="47E6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4828032"/>
            <a:ext cx="658368" cy="347472"/>
          </a:xfrm>
          <a:prstGeom prst="roundRect">
            <a:avLst/>
          </a:prstGeom>
          <a:solidFill>
            <a:srgbClr val="47E6E0"/>
          </a:solidFill>
          <a:ln w="7620">
            <a:solidFill>
              <a:srgbClr val="47E6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Cyan = compiler capacity · Gold = demand recovery · 4+0 disables fallback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physical backends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E7F2FA"/>
          </a:solidFill>
          <a:ln w="10160">
            <a:solidFill>
              <a:srgbClr val="E7F2F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91640"/>
            <a:ext cx="369417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452360" y="164592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25512" y="1691640"/>
            <a:ext cx="369417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SeQUeNCe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3474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reservation and cache lifecycle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Application-service latency endpoint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35240" y="2788920"/>
            <a:ext cx="3474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Barrett-Kok generation and retries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Swapping, teleportation, receiver correction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983480" y="1975104"/>
            <a:ext cx="2194560" cy="0"/>
          </a:xfrm>
          <a:prstGeom prst="line">
            <a:avLst/>
          </a:prstGeom>
          <a:noFill/>
          <a:ln w="19050">
            <a:solidFill>
              <a:srgbClr val="FF4D6D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88720" y="4846320"/>
            <a:ext cx="98755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directions and trade-offs only within one backend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 lifecycle and provenance repair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1508760" cy="512064"/>
          </a:xfrm>
          <a:prstGeom prst="roundRect">
            <a:avLst>
              <a:gd name="adj" fmla="val 10714"/>
            </a:avLst>
          </a:prstGeom>
          <a:solidFill>
            <a:srgbClr val="FF4D6D"/>
          </a:solidFill>
          <a:ln w="10160">
            <a:solidFill>
              <a:srgbClr val="FF4D6D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508760"/>
            <a:ext cx="136245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423160" y="2560320"/>
            <a:ext cx="640080" cy="0"/>
          </a:xfrm>
          <a:prstGeom prst="line">
            <a:avLst/>
          </a:prstGeom>
          <a:noFill/>
          <a:ln w="19050">
            <a:solidFill>
              <a:srgbClr val="FF4D6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063240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0" y="2560320"/>
            <a:ext cx="640080" cy="0"/>
          </a:xfrm>
          <a:prstGeom prst="line">
            <a:avLst/>
          </a:prstGeom>
          <a:noFill/>
          <a:ln w="19050">
            <a:solidFill>
              <a:srgbClr val="FF4D6D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212080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4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Stale reservation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4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until expiry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794760"/>
            <a:ext cx="1508760" cy="512064"/>
          </a:xfrm>
          <a:prstGeom prst="roundRect">
            <a:avLst>
              <a:gd name="adj" fmla="val 10714"/>
            </a:avLst>
          </a:prstGeom>
          <a:solidFill>
            <a:srgbClr val="66CDAA"/>
          </a:solidFill>
          <a:ln w="10160">
            <a:solidFill>
              <a:srgbClr val="66CDAA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840480"/>
            <a:ext cx="136245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4736592"/>
            <a:ext cx="1508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423160" y="4873752"/>
            <a:ext cx="640080" cy="0"/>
          </a:xfrm>
          <a:prstGeom prst="line">
            <a:avLst/>
          </a:prstGeom>
          <a:noFill/>
          <a:ln w="19050">
            <a:solidFill>
              <a:srgbClr val="66CDA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063240" y="4736592"/>
            <a:ext cx="1508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0" y="4873752"/>
            <a:ext cx="640080" cy="0"/>
          </a:xfrm>
          <a:prstGeom prst="line">
            <a:avLst/>
          </a:prstGeom>
          <a:noFill/>
          <a:ln w="19050">
            <a:solidFill>
              <a:srgbClr val="66CDAA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212080" y="4617720"/>
            <a:ext cx="1828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6CD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Bookkeeping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66CD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52360" y="2743200"/>
            <a:ext cx="32004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request target maps close stale records when endpoint memory slots are reused.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Immutable contract to audited result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572768" cy="658368"/>
          </a:xfrm>
          <a:prstGeom prst="roundRect">
            <a:avLst>
              <a:gd name="adj" fmla="val 8333"/>
            </a:avLst>
          </a:prstGeom>
          <a:solidFill>
            <a:srgbClr val="E7F2FA"/>
          </a:solidFill>
          <a:ln w="10160">
            <a:solidFill>
              <a:srgbClr val="E7F2F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2240280"/>
            <a:ext cx="142646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hash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75688" y="2523744"/>
            <a:ext cx="329184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04872" y="2194560"/>
            <a:ext cx="1572768" cy="658368"/>
          </a:xfrm>
          <a:prstGeom prst="roundRect">
            <a:avLst>
              <a:gd name="adj" fmla="val 8333"/>
            </a:avLst>
          </a:prstGeom>
          <a:solidFill>
            <a:srgbClr val="E7F2FA"/>
          </a:solidFill>
          <a:ln w="10160">
            <a:solidFill>
              <a:srgbClr val="E7F2FA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8024" y="2240280"/>
            <a:ext cx="142646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977640" y="2523744"/>
            <a:ext cx="329184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06824" y="2194560"/>
            <a:ext cx="1572768" cy="658368"/>
          </a:xfrm>
          <a:prstGeom prst="roundRect">
            <a:avLst>
              <a:gd name="adj" fmla="val 8333"/>
            </a:avLst>
          </a:prstGeom>
          <a:solidFill>
            <a:srgbClr val="E7F2FA"/>
          </a:solidFill>
          <a:ln w="10160">
            <a:solidFill>
              <a:srgbClr val="E7F2FA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9976" y="2240280"/>
            <a:ext cx="142646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Seeds 0–29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79592" y="2523744"/>
            <a:ext cx="329184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8776" y="2194560"/>
            <a:ext cx="1572768" cy="658368"/>
          </a:xfrm>
          <a:prstGeom prst="roundRect">
            <a:avLst>
              <a:gd name="adj" fmla="val 8333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2240280"/>
            <a:ext cx="142646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runs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81544" y="2523744"/>
            <a:ext cx="329184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10728" y="2194560"/>
            <a:ext cx="1572768" cy="658368"/>
          </a:xfrm>
          <a:prstGeom prst="roundRect">
            <a:avLst>
              <a:gd name="adj" fmla="val 8333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240280"/>
            <a:ext cx="142646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83496" y="2523744"/>
            <a:ext cx="329184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12680" y="2194560"/>
            <a:ext cx="1572768" cy="658368"/>
          </a:xfrm>
          <a:prstGeom prst="roundRect">
            <a:avLst>
              <a:gd name="adj" fmla="val 8333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85832" y="2240280"/>
            <a:ext cx="142646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identity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160520"/>
            <a:ext cx="9418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numerical claims require all six gates.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native physical 3+1 study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38912" y="850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context · 30-seed result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23444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60020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FFF2D5"/>
          </a:solidFill>
          <a:ln w="10160">
            <a:solidFill>
              <a:srgbClr val="FFF2D5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08392" y="1645920"/>
            <a:ext cx="28254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680960" y="2240280"/>
            <a:ext cx="2880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42.18% ready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0.8630 fidelity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635240" y="315468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08392" y="3200400"/>
            <a:ext cx="28254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680960" y="3794760"/>
            <a:ext cx="2880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30.46% ready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0.9193 fidelity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315200" y="5074920"/>
            <a:ext cx="35661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time versus freshness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A · ACE static fixed-lead sensitivity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38912" y="850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and audited · Δ1 through Δ6 · 30 paired seeds per point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458200" y="150876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E7F2FA"/>
          </a:solidFill>
          <a:ln w="10160">
            <a:solidFill>
              <a:srgbClr val="E7F2FA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31352" y="1554480"/>
            <a:ext cx="245973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3+1 · Δ1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03920" y="2148840"/>
            <a:ext cx="25146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0.553104 ms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64.38% ready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458200" y="297180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FFF2D5"/>
          </a:solidFill>
          <a:ln w="10160">
            <a:solidFill>
              <a:srgbClr val="FFF2D5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31352" y="3017520"/>
            <a:ext cx="245973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2+2 · Δ1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503920" y="3611880"/>
            <a:ext cx="25146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0.720845 ms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44.61% ready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458200" y="44348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F6E8FA"/>
          </a:solidFill>
          <a:ln w="10160">
            <a:solidFill>
              <a:srgbClr val="F6E8FA">
                <a:alpha val="7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31352" y="4480560"/>
            <a:ext cx="245973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1+1 · Δ2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503920" y="5074920"/>
            <a:ext cx="25146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0.908687 ms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22.85% ready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fixed-lead evidence matrix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38912" y="850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/ fidelity at use / fallback for every audited ACE static profile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25880"/>
          <a:ext cx="10332720" cy="448056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2468880"/>
                <a:gridCol w="2468880"/>
                <a:gridCol w="2926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Profile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Ready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Fidelity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Fallback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3+1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64.38%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0.8037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35.60%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54.91%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0.7673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45.06%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47.19%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0.7540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52.79%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Δ4–6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43.29→34.57%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0.7216→0.6156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56.71→65.43%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2+2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44.61%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0.8741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55.37%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34.77%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0.8496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65.21%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29.85%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0.8459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70.13%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Δ4–6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27.80→21.54%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0.8399→0.7504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72.20→78.46%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1+1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22.57%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0.7861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77.43%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22.85%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0.8267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77.12%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18.82%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0.8390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81.15%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Δ4–6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16.92→12.77%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0.7699→0.6390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F2F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83.08→87.22%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4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989320"/>
            <a:ext cx="10332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18 cells passed trace, completion, and pair-identity audits.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 shared-pool fixed-lead trade-offs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38912" y="850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and audited · legacy cap-three admission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23444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7315200" y="1234440"/>
          <a:ext cx="4251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731520" y="5870448"/>
            <a:ext cx="10789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Δ1: 0.598283 ms · 59.17% pre-ready · 0.8584 fidelity · 40.80% fallback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B · strict compiler-only 4+0 coverage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38912" y="850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Seed-zero diagnostic · demand fallback disabled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28016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160020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2D5"/>
          </a:solidFill>
          <a:ln w="10160">
            <a:solidFill>
              <a:srgbClr val="FFF2D5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74152" y="1645920"/>
            <a:ext cx="223113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56.38%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001000" y="2359152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coverage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01000" y="333756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74152" y="3383280"/>
            <a:ext cx="223113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72.71%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8001000" y="4096512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coverage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35240" y="5074920"/>
            <a:ext cx="3200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knowledge does not remove capacity limits or physical failure.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C · historical ACE shared-pool comparison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38912" y="850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Δ2 snapshot · use the Δ1–Δ6 rerun for fixed-lead selection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23444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955280" y="155448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E7F2FA"/>
          </a:solidFill>
          <a:ln w="10160">
            <a:solidFill>
              <a:srgbClr val="E7F2FA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28432" y="1600200"/>
            <a:ext cx="213969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0" y="2084832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1.104216 ms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fallback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955280" y="288036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FFF2D5"/>
          </a:solidFill>
          <a:ln w="10160">
            <a:solidFill>
              <a:srgbClr val="FFF2D5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28432" y="2926080"/>
            <a:ext cx="213969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Δ2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55280" y="3410712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0.658471 ms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51.92% ready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955280" y="420624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28432" y="4251960"/>
            <a:ext cx="213969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955280" y="4736592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0.615906 ms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56.83% ready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native shared-pool comparison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38912" y="850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Δ2 snapshot · native Δ1–Δ6 matrix pending audit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23444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955280" y="155448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FFF2D5"/>
          </a:solidFill>
          <a:ln w="10160">
            <a:solidFill>
              <a:srgbClr val="FFF2D5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28432" y="1600200"/>
            <a:ext cx="213969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Δ2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0" y="2084832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92.23% ready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0.7486 fidelity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955280" y="315468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28432" y="3200400"/>
            <a:ext cx="213969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55280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68.95% ready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0.8838 fidelity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543800" y="4983480"/>
            <a:ext cx="3108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fixed launch gives more retry time. Dynamic consumes fresher pairs.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D · ACE adaptive generation versus compiler scheduling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38912" y="850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shared-pool Δ2 snapshot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23444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955280" y="150876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F6E8FA"/>
          </a:solidFill>
          <a:ln w="10160">
            <a:solidFill>
              <a:srgbClr val="F6E8FA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28432" y="1554480"/>
            <a:ext cx="213969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ACGP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0" y="2039112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0.476298 ms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74.01% expiry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955280" y="297180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28432" y="3017520"/>
            <a:ext cx="213969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0" y="3502152"/>
            <a:ext cx="2286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0.615906 ms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14.32% expiry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0.8972 delivered fidelity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98080" y="5166360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versus waste and fidelity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and provenance scale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057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1,486,200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587752"/>
            <a:ext cx="2057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ACE static requests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2011680"/>
            <a:ext cx="2057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B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2,675,160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880360" y="2587752"/>
            <a:ext cx="2057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 static fixed-lead requests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2011680"/>
            <a:ext cx="2057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891,720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120640" y="2587752"/>
            <a:ext cx="2057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 shared fixed-lead requests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60920" y="2011680"/>
            <a:ext cx="2057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6CD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445,860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60920" y="2587752"/>
            <a:ext cx="2057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shared-policy requests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0" y="2011680"/>
            <a:ext cx="2057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9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601200" y="2587752"/>
            <a:ext cx="2057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identity-audit errors in new ACE sweep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709160"/>
            <a:ext cx="10241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Audits verify completion, trace identity, pair conservation, unique pair use, memory bounds, ordering, and fidelity bounds.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Cap-four wait-on-demand control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38912" y="850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specification · final controlled matrix remains pending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E7F2FA"/>
          </a:solidFill>
          <a:ln w="10160">
            <a:solidFill>
              <a:srgbClr val="E7F2FA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48840"/>
            <a:ext cx="16824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arrives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46120" y="21031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2D5"/>
          </a:solidFill>
          <a:ln w="10160">
            <a:solidFill>
              <a:srgbClr val="FFF2D5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2148840"/>
            <a:ext cx="16824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endpoints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60720" y="21031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3872" y="2148840"/>
            <a:ext cx="16824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Atomic allocation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demand work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75320" y="21031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6E8FA"/>
          </a:solidFill>
          <a:ln w="10160">
            <a:solidFill>
              <a:srgbClr val="F6E8FA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2148840"/>
            <a:ext cx="16824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with no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lock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60320" y="2450592"/>
            <a:ext cx="685800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74920" y="2450592"/>
            <a:ext cx="685800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74920" y="2706624"/>
            <a:ext cx="3200400" cy="0"/>
          </a:xfrm>
          <a:prstGeom prst="line">
            <a:avLst/>
          </a:prstGeom>
          <a:noFill/>
          <a:ln w="19050">
            <a:solidFill>
              <a:srgbClr val="FF4D6D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14400" y="4389120"/>
            <a:ext cx="10241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demand has priority over new compiler or background work.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 · compiler-driven routing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057400" cy="713232"/>
          </a:xfrm>
          <a:prstGeom prst="roundRect">
            <a:avLst>
              <a:gd name="adj" fmla="val 7692"/>
            </a:avLst>
          </a:prstGeom>
          <a:solidFill>
            <a:srgbClr val="E7F2FA"/>
          </a:solidFill>
          <a:ln w="10160">
            <a:solidFill>
              <a:srgbClr val="E7F2FA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74520"/>
            <a:ext cx="191109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intent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 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0" y="1828800"/>
            <a:ext cx="2057400" cy="713232"/>
          </a:xfrm>
          <a:prstGeom prst="roundRect">
            <a:avLst>
              <a:gd name="adj" fmla="val 7692"/>
            </a:avLst>
          </a:prstGeom>
          <a:solidFill>
            <a:srgbClr val="FFF2D5"/>
          </a:solidFill>
          <a:ln w="10160">
            <a:solidFill>
              <a:srgbClr val="FFF2D5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0752" y="1874520"/>
            <a:ext cx="191109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path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load-aware plan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2057400" cy="713232"/>
          </a:xfrm>
          <a:prstGeom prst="roundRect">
            <a:avLst>
              <a:gd name="adj" fmla="val 7692"/>
            </a:avLst>
          </a:prstGeom>
          <a:solidFill>
            <a:srgbClr val="DDF7F0"/>
          </a:solidFill>
          <a:ln w="10160">
            <a:solidFill>
              <a:srgbClr val="DDF7F0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874520"/>
            <a:ext cx="191109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route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congestion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18320" y="1828800"/>
            <a:ext cx="2057400" cy="713232"/>
          </a:xfrm>
          <a:prstGeom prst="roundRect">
            <a:avLst>
              <a:gd name="adj" fmla="val 7692"/>
            </a:avLst>
          </a:prstGeom>
          <a:solidFill>
            <a:srgbClr val="F6E8FA"/>
          </a:solidFill>
          <a:ln w="10160">
            <a:solidFill>
              <a:srgbClr val="F6E8FA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91472" y="1874520"/>
            <a:ext cx="191109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XY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· adaptive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34640" y="2185416"/>
            <a:ext cx="822960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15000" y="2185416"/>
            <a:ext cx="822960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0" y="2185416"/>
            <a:ext cx="822960" cy="0"/>
          </a:xfrm>
          <a:prstGeom prst="line">
            <a:avLst/>
          </a:prstGeom>
          <a:noFill/>
          <a:ln w="19050">
            <a:solidFill>
              <a:srgbClr val="47E6E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4434840"/>
            <a:ext cx="10241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routing contracts must preserve endpoint intent, paired seeds, raw decisions, completion, and pair identity.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conclusions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475488" cy="475488"/>
          </a:xfrm>
          <a:prstGeom prst="ellipse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81328"/>
            <a:ext cx="47548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335024"/>
            <a:ext cx="9692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compiler preparation reduces exposed service latency under the locked trace.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475488" cy="475488"/>
          </a:xfrm>
          <a:prstGeom prst="ellipse">
            <a:avLst/>
          </a:prstGeom>
          <a:solidFill>
            <a:srgbClr val="F7BF4F"/>
          </a:solidFill>
          <a:ln w="12700">
            <a:solidFill>
              <a:srgbClr val="F7BF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32888"/>
            <a:ext cx="47548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386584"/>
            <a:ext cx="9692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capacity and lead interact. Δ1 wins in 3+1, 2+2, and legacy shared pool; 1+1 shifts to Δ2.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475488" cy="475488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84448"/>
            <a:ext cx="47548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438144"/>
            <a:ext cx="9692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fallback remains required. Strict compiler-only coverage leaves terminal misses.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31520" y="4526280"/>
            <a:ext cx="475488" cy="475488"/>
          </a:xfrm>
          <a:prstGeom prst="ellipse">
            <a:avLst/>
          </a:prstGeom>
          <a:solidFill>
            <a:srgbClr val="66CDAA"/>
          </a:solidFill>
          <a:ln w="12700">
            <a:solidFill>
              <a:srgbClr val="66CD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636008"/>
            <a:ext cx="47548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489704"/>
            <a:ext cx="96926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ACGP has lowest historical ACE latency; dynamic improves the waste and fidelity side of the trade-off.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 · BTP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status and next actions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228600" cy="228600"/>
          </a:xfrm>
          <a:prstGeom prst="ellipse">
            <a:avLst/>
          </a:prstGeom>
          <a:solidFill>
            <a:srgbClr val="66CDAA"/>
          </a:solidFill>
          <a:ln w="12700">
            <a:solidFill>
              <a:srgbClr val="66CD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170432"/>
            <a:ext cx="5577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 fixed-lead: static and shared pool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1170432"/>
            <a:ext cx="3017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6CD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· audited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130552"/>
            <a:ext cx="228600" cy="228600"/>
          </a:xfrm>
          <a:prstGeom prst="ellipse">
            <a:avLst/>
          </a:prstGeom>
          <a:solidFill>
            <a:srgbClr val="F7BF4F"/>
          </a:solidFill>
          <a:ln w="12700">
            <a:solidFill>
              <a:srgbClr val="F7BF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975104"/>
            <a:ext cx="5577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Δ2 comparisons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0" y="1975104"/>
            <a:ext cx="3017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7B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only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2935224"/>
            <a:ext cx="228600" cy="228600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779776"/>
            <a:ext cx="5577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fixed-lead matrices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2779776"/>
            <a:ext cx="3017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4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 · audit required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3739896"/>
            <a:ext cx="228600" cy="228600"/>
          </a:xfrm>
          <a:prstGeom prst="ellipse">
            <a:avLst/>
          </a:prstGeom>
          <a:solidFill>
            <a:srgbClr val="47E6E0"/>
          </a:solidFill>
          <a:ln w="12700">
            <a:solidFill>
              <a:srgbClr val="47E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584448"/>
            <a:ext cx="5577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Cap-four atomic admission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0" y="3584448"/>
            <a:ext cx="3017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· matrix pending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400" y="4544568"/>
            <a:ext cx="228600" cy="228600"/>
          </a:xfrm>
          <a:prstGeom prst="ellipse">
            <a:avLst/>
          </a:prstGeom>
          <a:solidFill>
            <a:srgbClr val="A8BACB"/>
          </a:solidFill>
          <a:ln w="12700">
            <a:solidFill>
              <a:srgbClr val="A8BA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389120"/>
            <a:ext cx="5577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ACGP improvement work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0" y="4389120"/>
            <a:ext cx="3017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Deferred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5669280"/>
            <a:ext cx="102412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future final result retains its immutable contract, 30 paired seeds, trace hash, raw provenance, and identity audit.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34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3474720"/>
            <a:ext cx="3840480" cy="3840480"/>
          </a:xfrm>
          <a:prstGeom prst="arc">
            <a:avLst/>
          </a:prstGeom>
          <a:noFill/>
          <a:ln w="38100">
            <a:solidFill>
              <a:srgbClr val="FF4D6D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F2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Compiler-Driven EPR Pre-Generation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E6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 Guwahati · MARS Laboratory · BTP Research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Audited evidence, physical constraints, and the next control experiments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Indian Institute of Technology Guwahati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Compiler-Driven EPR Pre-Generation</dc:title>
  <dc:subject>Compiler-Driven EPR Pre-Generation</dc:subject>
  <dc:creator>BTP Research Project</dc:creator>
  <cp:lastModifiedBy>BTP Research Project</cp:lastModifiedBy>
  <cp:revision>1</cp:revision>
  <dcterms:created xsi:type="dcterms:W3CDTF">2026-09-10T13:59:43Z</dcterms:created>
  <dcterms:modified xsi:type="dcterms:W3CDTF">2026-09-10T13:59:43Z</dcterms:modified>
</cp:coreProperties>
</file>