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Static 3+1</c:v>
                </c:pt>
              </c:strCache>
            </c:strRef>
          </c:tx>
          <c:spPr>
            <a:solidFill>
              <a:srgbClr val="247BA0"/>
            </a:solidFill>
            <a:ln w="25400" cap="flat">
              <a:solidFill>
                <a:srgbClr val="247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47BA0"/>
              </a:solidFill>
              <a:ln w="9525" cap="flat">
                <a:solidFill>
                  <a:srgbClr val="247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0.553104</c:v>
                </c:pt>
                <c:pt idx="1">
                  <c:v>0.633231</c:v>
                </c:pt>
                <c:pt idx="2">
                  <c:v>0.697352</c:v>
                </c:pt>
                <c:pt idx="3">
                  <c:v>0.732664</c:v>
                </c:pt>
                <c:pt idx="4">
                  <c:v>0.772076</c:v>
                </c:pt>
                <c:pt idx="5">
                  <c:v>0.807971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Static 2+2</c:v>
                </c:pt>
              </c:strCache>
            </c:strRef>
          </c:tx>
          <c:spPr>
            <a:solidFill>
              <a:srgbClr val="FF9F1C"/>
            </a:solidFill>
            <a:ln w="25400" cap="flat">
              <a:solidFill>
                <a:srgbClr val="FF9F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F1C"/>
              </a:solidFill>
              <a:ln w="9525" cap="flat">
                <a:solidFill>
                  <a:srgbClr val="FF9F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0.720845</c:v>
                </c:pt>
                <c:pt idx="1">
                  <c:v>0.805677</c:v>
                </c:pt>
                <c:pt idx="2">
                  <c:v>0.846865</c:v>
                </c:pt>
                <c:pt idx="3">
                  <c:v>0.865266</c:v>
                </c:pt>
                <c:pt idx="4">
                  <c:v>0.890028</c:v>
                </c:pt>
                <c:pt idx="5">
                  <c:v>0.919232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Static 1+1</c:v>
                </c:pt>
              </c:strCache>
            </c:strRef>
          </c:tx>
          <c:spPr>
            <a:solidFill>
              <a:srgbClr val="7B61A8"/>
            </a:solidFill>
            <a:ln w="25400" cap="flat">
              <a:solidFill>
                <a:srgbClr val="7B61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B61A8"/>
              </a:solidFill>
              <a:ln w="9525" cap="flat">
                <a:solidFill>
                  <a:srgbClr val="7B61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0.910873</c:v>
                </c:pt>
                <c:pt idx="1">
                  <c:v>0.908687</c:v>
                </c:pt>
                <c:pt idx="2">
                  <c:v>0.943862</c:v>
                </c:pt>
                <c:pt idx="3">
                  <c:v>0.959724</c:v>
                </c:pt>
                <c:pt idx="4">
                  <c:v>0.97947</c:v>
                </c:pt>
                <c:pt idx="5">
                  <c:v>0.994275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Shared pool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0.598283</c:v>
                </c:pt>
                <c:pt idx="1">
                  <c:v>0.635186</c:v>
                </c:pt>
                <c:pt idx="2">
                  <c:v>0.726038</c:v>
                </c:pt>
                <c:pt idx="3">
                  <c:v>0.746164</c:v>
                </c:pt>
                <c:pt idx="4">
                  <c:v>0.784498</c:v>
                </c:pt>
                <c:pt idx="5">
                  <c:v>0.818597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4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Pre-ready</c:v>
                </c:pt>
              </c:strCache>
            </c:strRef>
          </c:tx>
          <c:spPr>
            <a:solidFill>
              <a:srgbClr val="247BA0"/>
            </a:solidFill>
            <a:ln w="25400" cap="flat">
              <a:solidFill>
                <a:srgbClr val="247BA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47BA0"/>
              </a:solidFill>
              <a:ln w="9525" cap="flat">
                <a:solidFill>
                  <a:srgbClr val="247BA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59.17</c:v>
                </c:pt>
                <c:pt idx="1">
                  <c:v>54.72</c:v>
                </c:pt>
                <c:pt idx="2">
                  <c:v>44.15</c:v>
                </c:pt>
                <c:pt idx="3">
                  <c:v>41.91</c:v>
                </c:pt>
                <c:pt idx="4">
                  <c:v>37.25</c:v>
                </c:pt>
                <c:pt idx="5">
                  <c:v>33.56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Fallback</c:v>
                </c:pt>
              </c:strCache>
            </c:strRef>
          </c:tx>
          <c:spPr>
            <a:solidFill>
              <a:srgbClr val="E84855"/>
            </a:solidFill>
            <a:ln w="25400" cap="flat">
              <a:solidFill>
                <a:srgbClr val="E8485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4855"/>
              </a:solidFill>
              <a:ln w="9525" cap="flat">
                <a:solidFill>
                  <a:srgbClr val="E8485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40.8</c:v>
                </c:pt>
                <c:pt idx="1">
                  <c:v>45.26</c:v>
                </c:pt>
                <c:pt idx="2">
                  <c:v>55.82</c:v>
                </c:pt>
                <c:pt idx="3">
                  <c:v>58.09</c:v>
                </c:pt>
                <c:pt idx="4">
                  <c:v>62.75</c:v>
                </c:pt>
                <c:pt idx="5">
                  <c:v>66.44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Expiry</c:v>
                </c:pt>
              </c:strCache>
            </c:strRef>
          </c:tx>
          <c:spPr>
            <a:solidFill>
              <a:srgbClr val="FF9F1C"/>
            </a:solidFill>
            <a:ln w="25400" cap="flat">
              <a:solidFill>
                <a:srgbClr val="FF9F1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9F1C"/>
              </a:solidFill>
              <a:ln w="9525" cap="flat">
                <a:solidFill>
                  <a:srgbClr val="FF9F1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55.32</c:v>
                </c:pt>
                <c:pt idx="1">
                  <c:v>57.18</c:v>
                </c:pt>
                <c:pt idx="2">
                  <c:v>58.68</c:v>
                </c:pt>
                <c:pt idx="3">
                  <c:v>59.64</c:v>
                </c:pt>
                <c:pt idx="4">
                  <c:v>61.44</c:v>
                </c:pt>
                <c:pt idx="5">
                  <c:v>62.66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Fidelity at use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Δ1</c:v>
                  </c:pt>
                  <c:pt idx="1">
                    <c:v>Δ2</c:v>
                  </c:pt>
                  <c:pt idx="2">
                    <c:v>Δ3</c:v>
                  </c:pt>
                  <c:pt idx="3">
                    <c:v>Δ4</c:v>
                  </c:pt>
                  <c:pt idx="4">
                    <c:v>Δ5</c:v>
                  </c:pt>
                  <c:pt idx="5">
                    <c:v>Δ6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0.8584</c:v>
                </c:pt>
                <c:pt idx="1">
                  <c:v>0.7856</c:v>
                </c:pt>
                <c:pt idx="2">
                  <c:v>0.7732</c:v>
                </c:pt>
                <c:pt idx="3">
                  <c:v>0.7344</c:v>
                </c:pt>
                <c:pt idx="4">
                  <c:v>0.7035</c:v>
                </c:pt>
                <c:pt idx="5">
                  <c:v>0.653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</c:v>
                </c:pt>
              </c:strCache>
            </c:strRef>
          </c:tx>
          <c:spPr>
            <a:solidFill>
              <a:srgbClr val="FF9F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</c:v>
                  </c:pt>
                  <c:pt idx="1">
                    <c:v>Dynamic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2793</c:v>
                </c:pt>
                <c:pt idx="1">
                  <c:v>3602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Terminal misses</c:v>
                </c:pt>
              </c:strCache>
            </c:strRef>
          </c:tx>
          <c:spPr>
            <a:solidFill>
              <a:srgbClr val="B9C6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Fixed</c:v>
                  </c:pt>
                  <c:pt idx="1">
                    <c:v>Dynamic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2161</c:v>
                </c:pt>
                <c:pt idx="1">
                  <c:v>1352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95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7B61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ODG</c:v>
                  </c:pt>
                  <c:pt idx="1">
                    <c:v>CGP</c:v>
                  </c:pt>
                  <c:pt idx="2">
                    <c:v>ACGP</c:v>
                  </c:pt>
                  <c:pt idx="3">
                    <c:v>Fixed Δ2</c:v>
                  </c:pt>
                  <c:pt idx="4">
                    <c:v>Dynamic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1.104216</c:v>
                </c:pt>
                <c:pt idx="1">
                  <c:v>0.547729</c:v>
                </c:pt>
                <c:pt idx="2">
                  <c:v>0.476298</c:v>
                </c:pt>
                <c:pt idx="3">
                  <c:v>0.658471</c:v>
                </c:pt>
                <c:pt idx="4">
                  <c:v>0.615906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914400"/>
            <a:ext cx="4937760" cy="4937760"/>
          </a:xfrm>
          <a:prstGeom prst="arc">
            <a:avLst/>
          </a:prstGeom>
          <a:noFill/>
          <a:ln w="38100">
            <a:solidFill>
              <a:srgbClr val="70C1B3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2834640"/>
            <a:ext cx="3931920" cy="3931920"/>
          </a:xfrm>
          <a:prstGeom prst="arc">
            <a:avLst/>
          </a:prstGeom>
          <a:noFill/>
          <a:ln w="38100">
            <a:solidFill>
              <a:srgbClr val="FF9F1C">
                <a:alpha val="6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234440"/>
            <a:ext cx="7498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Compiler-Driven EPR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Pre-Generation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13232" y="28163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6DF"/>
                </a:solidFill>
              </a:rPr>
              <a:t>Physical validation, memory trade-offs, and reproducible evidence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58978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C1B3"/>
                </a:solidFill>
              </a:rPr>
              <a:t>BTP Research Project ·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question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Can compiler knowledge prepare the exact EPR pair early enough to reduce request service latency?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85800" y="182880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01952"/>
            <a:ext cx="220370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trace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A → B requests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0" y="182880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67328" y="1901952"/>
            <a:ext cx="220370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Request-specific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preparation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629400" y="1828800"/>
            <a:ext cx="2423160" cy="1051560"/>
          </a:xfrm>
          <a:prstGeom prst="roundRect">
            <a:avLst>
              <a:gd name="adj" fmla="val 521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39128" y="1901952"/>
            <a:ext cx="220370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generation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retry and memory noise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601200" y="1828800"/>
            <a:ext cx="1874520" cy="105156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0928" y="1901952"/>
            <a:ext cx="165506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pair at use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demand fallback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108960" y="2359152"/>
            <a:ext cx="54864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080760" y="2359152"/>
            <a:ext cx="54864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52560" y="2359152"/>
            <a:ext cx="54864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960120" y="4160520"/>
            <a:ext cx="10241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readiness, service latency, fidelity at use, expiry, fallback, and pair identity.</a:t>
            </a:r>
            <a:endParaRPr lang="en-US" sz="2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scheduling model to physical evidence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Topology-correct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routing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33172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6324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7296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ODG / CGP / ACGP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39496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0468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SeQUeNCe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execution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99516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2668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3640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lifecycle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provenance repair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9326880" y="2450592"/>
            <a:ext cx="731520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58400" y="1920240"/>
            <a:ext cx="1600200" cy="1051560"/>
          </a:xfrm>
          <a:prstGeom prst="roundRect">
            <a:avLst>
              <a:gd name="adj" fmla="val 521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168128" y="1993392"/>
            <a:ext cx="1380744" cy="9052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and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audits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4297680"/>
            <a:ext cx="10332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analytical model chooses policies. Physical backends execute stochastic generation, retries, decoherence, and fallback.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Locked experimental workload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4×4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mesh, 16 cores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07792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96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907792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qubits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75504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4,954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175504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inter-core transfers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43216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2944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2,831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7443216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conflict-free sublayers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710928" y="1508760"/>
            <a:ext cx="1874520" cy="960120"/>
          </a:xfrm>
          <a:prstGeom prst="roundRect">
            <a:avLst>
              <a:gd name="adj" fmla="val 5714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0656" y="1581912"/>
            <a:ext cx="1655064" cy="8138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9710928" y="2606040"/>
            <a:ext cx="1874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seeds per cell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114800"/>
            <a:ext cx="105156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SHA-256  61d97492195aea40fad48d5bc4e1b48b2dd019eea20fe24aada8c954e3073da1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a numerical result auditable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Immutable contract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42032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seeds 0–29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96512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43984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3712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runs.json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98464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45936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55664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hash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00416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47888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 audit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802368" y="2468880"/>
            <a:ext cx="347472" cy="0"/>
          </a:xfrm>
          <a:prstGeom prst="line">
            <a:avLst/>
          </a:prstGeom>
          <a:noFill/>
          <a:ln w="19050">
            <a:solidFill>
              <a:srgbClr val="70C1B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149840" y="2103120"/>
            <a:ext cx="155448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59568" y="2176272"/>
            <a:ext cx="133502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Pair-identity audit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69080"/>
            <a:ext cx="102412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seed-zero run is a smoke test. Final claims require all 30 paired replications and passing audits.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 fixed-lead sensitivity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Audited static 3+1, 2+2, 1+1 and shared-pool matrices · 30 paired seeds per point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234440"/>
          <a:ext cx="67665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909560" y="150876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19288" y="1581912"/>
            <a:ext cx="311810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 best latency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3+1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909560" y="246888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19288" y="2542032"/>
            <a:ext cx="311810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 best latency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2+2 and shared pool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909560" y="3429000"/>
            <a:ext cx="3337560" cy="731520"/>
          </a:xfrm>
          <a:prstGeom prst="roundRect">
            <a:avLst>
              <a:gd name="adj" fmla="val 7500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19288" y="3502152"/>
            <a:ext cx="3118104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Δ2 lowest mean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1+1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955280" y="4617720"/>
            <a:ext cx="32004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1+1 Δ1/Δ2 difference is 0.002186 ms. Interpret it using paired raw data.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Shared-pool fixed-lead trade-offs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Legacy cap-three admission, 30 paired seeds per lead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234440"/>
          <a:ext cx="658368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7543800" y="1234440"/>
          <a:ext cx="3886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demand fallback remains necessary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77240" y="1325880"/>
          <a:ext cx="62179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98080" y="1600200"/>
            <a:ext cx="3291840" cy="640080"/>
          </a:xfrm>
          <a:prstGeom prst="roundRect">
            <a:avLst>
              <a:gd name="adj" fmla="val 8571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607808" y="1673352"/>
            <a:ext cx="3072384" cy="49377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 compiler-only 4+0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80960" y="2560320"/>
            <a:ext cx="292608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Seed-zero coverage diagnostic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demand fallback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35240" y="3977640"/>
            <a:ext cx="30175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knowledge does not eliminate finite capacity, physical failure, or missed deadlines.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 adaptive baselines and compiler scheduling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Historical shared-pool Δ2 snapshot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18872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818120" y="150876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27848" y="1581912"/>
            <a:ext cx="30266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latency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ACGP 0.476 ms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818120" y="256032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27848" y="2633472"/>
            <a:ext cx="30266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compiler expiry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14.32%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7818120" y="361188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27848" y="3685032"/>
            <a:ext cx="3026664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fixed row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Δ2 only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 and native answer complementary questions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1508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24128" y="1581912"/>
            <a:ext cx="3621024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7452360" y="1508760"/>
            <a:ext cx="3840480" cy="1005840"/>
          </a:xfrm>
          <a:prstGeom prst="roundRect">
            <a:avLst>
              <a:gd name="adj" fmla="val 5455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62088" y="1581912"/>
            <a:ext cx="3621024" cy="8595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SeQUeNCe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reservation/cache lifecycle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Application-service latency endpoint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43800" y="2743200"/>
            <a:ext cx="3657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Barrett–Kok generation, retries, swapping,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teleportation, receiver correction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983480" y="2011680"/>
            <a:ext cx="2194560" cy="0"/>
          </a:xfrm>
          <a:prstGeom prst="line">
            <a:avLst/>
          </a:prstGeom>
          <a:noFill/>
          <a:ln w="19050">
            <a:solidFill>
              <a:srgbClr val="FF9F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920240" y="4800600"/>
            <a:ext cx="84124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policy direction and trade-offs within one backend</a:t>
            </a:r>
            <a:endParaRPr lang="en-US" sz="2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research controls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10512"/>
            <a:ext cx="293522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Cap-four wait-on-demand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Atomic endpoint allocation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Pending-demand priority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73736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810512"/>
            <a:ext cx="293522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fixed-lead matrices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61772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and shared pool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Δ1 through Δ6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21040" y="1737360"/>
            <a:ext cx="3154680" cy="713232"/>
          </a:xfrm>
          <a:prstGeom prst="roundRect">
            <a:avLst>
              <a:gd name="adj" fmla="val 7692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0768" y="1810512"/>
            <a:ext cx="2935224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routing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412480" y="2743200"/>
            <a:ext cx="29718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path planning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Adaptive runtime route choice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" y="4709160"/>
            <a:ext cx="1024128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final number will retain an immutable contract, 30 paired seeds, trace hash, raw provenance, and identity audit.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evidence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691640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34440" y="1591056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fixed-lead sensitivity: completed and audited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2542032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441448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 static 3+1, 2+2, 1+1: completed and audited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3392424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291840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Shared-pool atomic cap-four: implemented control, final matrix pending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14400" y="4242816"/>
            <a:ext cx="164592" cy="164592"/>
          </a:xfrm>
          <a:prstGeom prst="ellipse">
            <a:avLst/>
          </a:prstGeom>
          <a:solidFill>
            <a:srgbClr val="70C1B3"/>
          </a:solidFill>
          <a:ln w="12700">
            <a:solidFill>
              <a:srgbClr val="70C1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142232"/>
            <a:ext cx="96012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fixed-lead and adaptive matrices: pending audit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9808" y="5897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0C1B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4×4 quantum multi-core communication mesh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Each transfer occupies an edge. Conflicting transfers serialize into 2,831 sublayers.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68880" y="1737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68880" y="1920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48840" y="1417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581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737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97680" y="1920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77640" y="1417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77640" y="1581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26480" y="1920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06440" y="1417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1581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55280" y="1920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35240" y="1417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581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2880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468880" y="3063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148840" y="2560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2724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2880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297680" y="3063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977640" y="2560320"/>
            <a:ext cx="640080" cy="640080"/>
          </a:xfrm>
          <a:prstGeom prst="ellipse">
            <a:avLst/>
          </a:prstGeom>
          <a:solidFill>
            <a:srgbClr val="FF9F1C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2724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126480" y="2880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126480" y="3063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06440" y="2560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06440" y="2724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955280" y="3063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635240" y="2560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35240" y="2724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468880" y="4023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468880" y="4206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148840" y="3703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3867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4297680" y="4023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297680" y="4206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977640" y="3703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77640" y="3867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26480" y="4023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126480" y="4206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806440" y="3703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06440" y="3867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7955280" y="4206240"/>
            <a:ext cx="0" cy="45720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635240" y="3703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635240" y="3867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468880" y="5166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2148840" y="4846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148840" y="5010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297680" y="5166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3977640" y="4846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977640" y="5010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126480" y="5166360"/>
            <a:ext cx="1188720" cy="0"/>
          </a:xfrm>
          <a:prstGeom prst="line">
            <a:avLst/>
          </a:prstGeom>
          <a:noFill/>
          <a:ln w="19050">
            <a:solidFill>
              <a:srgbClr val="B8C5D0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5806440" y="4846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06440" y="5010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7635240" y="4846320"/>
            <a:ext cx="640080" cy="640080"/>
          </a:xfrm>
          <a:prstGeom prst="ellipse">
            <a:avLst/>
          </a:prstGeom>
          <a:solidFill>
            <a:srgbClr val="E7F0FF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35240" y="5010912"/>
            <a:ext cx="6400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1874520" y="5897880"/>
            <a:ext cx="84124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cores · 24 neighbour links · 4,954 transfers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 policies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Four physical communication memories per 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25880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3+1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2103120" y="1216152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216152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216152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06440" y="1216152"/>
            <a:ext cx="987552" cy="640080"/>
          </a:xfrm>
          <a:prstGeom prst="roundRect">
            <a:avLst>
              <a:gd name="adj" fmla="val 7143"/>
            </a:avLst>
          </a:prstGeom>
          <a:solidFill>
            <a:srgbClr val="FF9F1C"/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04872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2+2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2103120" y="2295144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295144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295144"/>
            <a:ext cx="987552" cy="640080"/>
          </a:xfrm>
          <a:prstGeom prst="roundRect">
            <a:avLst>
              <a:gd name="adj" fmla="val 7143"/>
            </a:avLst>
          </a:prstGeom>
          <a:solidFill>
            <a:srgbClr val="FF9F1C"/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06440" y="2295144"/>
            <a:ext cx="987552" cy="640080"/>
          </a:xfrm>
          <a:prstGeom prst="roundRect">
            <a:avLst>
              <a:gd name="adj" fmla="val 7143"/>
            </a:avLst>
          </a:prstGeom>
          <a:solidFill>
            <a:srgbClr val="FF9F1C"/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483864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1+1</a:t>
            </a:r>
            <a:endParaRPr lang="en-US" sz="2300" dirty="0"/>
          </a:p>
        </p:txBody>
      </p:sp>
      <p:sp>
        <p:nvSpPr>
          <p:cNvPr id="17" name="Shape 15"/>
          <p:cNvSpPr/>
          <p:nvPr/>
        </p:nvSpPr>
        <p:spPr>
          <a:xfrm>
            <a:off x="2103120" y="3374136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37560" y="3374136"/>
            <a:ext cx="987552" cy="640080"/>
          </a:xfrm>
          <a:prstGeom prst="roundRect">
            <a:avLst>
              <a:gd name="adj" fmla="val 7143"/>
            </a:avLst>
          </a:prstGeom>
          <a:solidFill>
            <a:srgbClr val="FF9F1C"/>
          </a:solidFill>
          <a:ln w="15240">
            <a:solidFill>
              <a:srgbClr val="FF9F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3374136"/>
            <a:ext cx="987552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5240">
            <a:solidFill>
              <a:srgbClr val="C8D4D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3374136"/>
            <a:ext cx="987552" cy="640080"/>
          </a:xfrm>
          <a:prstGeom prst="roundRect">
            <a:avLst>
              <a:gd name="adj" fmla="val 7143"/>
            </a:avLst>
          </a:prstGeom>
          <a:solidFill>
            <a:srgbClr val="FFFFFF">
              <a:alpha val="0"/>
            </a:srgbClr>
          </a:solidFill>
          <a:ln w="15240">
            <a:solidFill>
              <a:srgbClr val="C8D4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562856"/>
            <a:ext cx="914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4+0</a:t>
            </a:r>
            <a:endParaRPr lang="en-US" sz="2300" dirty="0"/>
          </a:p>
        </p:txBody>
      </p:sp>
      <p:sp>
        <p:nvSpPr>
          <p:cNvPr id="22" name="Shape 20"/>
          <p:cNvSpPr/>
          <p:nvPr/>
        </p:nvSpPr>
        <p:spPr>
          <a:xfrm>
            <a:off x="2103120" y="4453128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37560" y="4453128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4453128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4453128"/>
            <a:ext cx="987552" cy="640080"/>
          </a:xfrm>
          <a:prstGeom prst="roundRect">
            <a:avLst>
              <a:gd name="adj" fmla="val 7143"/>
            </a:avLst>
          </a:prstGeom>
          <a:solidFill>
            <a:srgbClr val="247BA0"/>
          </a:solidFill>
          <a:ln w="15240">
            <a:solidFill>
              <a:srgbClr val="247B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1554480"/>
            <a:ext cx="2103120" cy="502920"/>
          </a:xfrm>
          <a:prstGeom prst="roundRect">
            <a:avLst>
              <a:gd name="adj" fmla="val 10909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24928" y="1627632"/>
            <a:ext cx="188366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Compiler preparation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46920" y="155448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56648" y="1627632"/>
            <a:ext cx="1472184" cy="3566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fallback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5806440"/>
            <a:ext cx="102412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= compiler capacity · Orange = demand recovery · 4+0 is a strict coverage diagnostic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7BA0"/>
          </a:solidFill>
          <a:ln w="12700">
            <a:solidFill>
              <a:srgbClr val="247B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BTP · Compiler-Driven 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D1B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Request lifecycle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21208" y="832104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Exact compiler-pair identity at every stage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E7F0FF"/>
          </a:solidFill>
          <a:ln w="12700">
            <a:solidFill>
              <a:srgbClr val="E7F0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2313432"/>
            <a:ext cx="133502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intent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57400" y="2651760"/>
            <a:ext cx="347472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04872" y="2240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2313432"/>
            <a:ext cx="133502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959352" y="2651760"/>
            <a:ext cx="347472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06824" y="2240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2313432"/>
            <a:ext cx="133502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+ retry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861304" y="2651760"/>
            <a:ext cx="347472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08776" y="2240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3EEFB"/>
          </a:solidFill>
          <a:ln w="12700">
            <a:solidFill>
              <a:srgbClr val="F3EEF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2313432"/>
            <a:ext cx="133502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pair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63256" y="2651760"/>
            <a:ext cx="347472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10728" y="2240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FFF2DD"/>
          </a:solidFill>
          <a:ln w="12700">
            <a:solidFill>
              <a:srgbClr val="FFF2DD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0456" y="2313432"/>
            <a:ext cx="133502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 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 fallback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665208" y="2651760"/>
            <a:ext cx="347472" cy="0"/>
          </a:xfrm>
          <a:prstGeom prst="line">
            <a:avLst/>
          </a:prstGeom>
          <a:noFill/>
          <a:ln w="19050">
            <a:solidFill>
              <a:srgbClr val="247BA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012680" y="2240280"/>
            <a:ext cx="1554480" cy="822960"/>
          </a:xfrm>
          <a:prstGeom prst="roundRect">
            <a:avLst>
              <a:gd name="adj" fmla="val 6667"/>
            </a:avLst>
          </a:prstGeom>
          <a:solidFill>
            <a:srgbClr val="E8F7F2"/>
          </a:solidFill>
          <a:ln w="12700">
            <a:solidFill>
              <a:srgbClr val="E8F7F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122408" y="2313432"/>
            <a:ext cx="1335024" cy="6766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record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4251960"/>
            <a:ext cx="9875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D1B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request ID · endpoint memory slots · creation, use, expiry, and release timestamps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IIT Guwahati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Compiler-Driven ACE</dc:title>
  <dc:subject>Compiler-Driven EPR Pre-Generation</dc:subject>
  <dc:creator>BTP Research Project</dc:creator>
  <cp:lastModifiedBy>BTP Research Project</cp:lastModifiedBy>
  <cp:revision>1</cp:revision>
  <dcterms:created xsi:type="dcterms:W3CDTF">2026-09-10T13:25:08Z</dcterms:created>
  <dcterms:modified xsi:type="dcterms:W3CDTF">2026-09-10T13:25:08Z</dcterms:modified>
</cp:coreProperties>
</file>